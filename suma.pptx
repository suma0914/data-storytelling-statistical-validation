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4" autoAdjust="0"/>
    <p:restoredTop sz="99500" autoAdjust="0"/>
  </p:normalViewPr>
  <p:slideViewPr>
    <p:cSldViewPr snapToGrid="0">
      <p:cViewPr varScale="1">
        <p:scale>
          <a:sx n="84" d="100"/>
          <a:sy n="8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Calibri Light" pitchFamily="0" charset="0"/>
                <a:ea typeface="等线 Light" pitchFamily="0" charset="0"/>
                <a:cs typeface="Lucida Sans"/>
              </a:rPr>
              <a:t>Click to edit Master title style</a:t>
            </a:r>
            <a:endParaRPr lang="zh-CN" altLang="en-US" sz="6000" b="0" i="0" u="none" strike="noStrike" kern="1200" cap="none" spc="0" baseline="0">
              <a:solidFill>
                <a:schemeClr val="tx1"/>
              </a:solidFill>
              <a:latin typeface="Calibri Light" pitchFamily="0" charset="0"/>
              <a:ea typeface="等线 Light" pitchFamily="0" charset="0"/>
              <a:cs typeface="Lucida Sans"/>
            </a:endParaRPr>
          </a:p>
        </p:txBody>
      </p:sp>
      <p:sp>
        <p:nvSpPr>
          <p:cNvPr id="8" name="文本框"/>
          <p:cNvSpPr>
            <a:spLocks noGrp="1"/>
          </p:cNvSpPr>
          <p:nvPr>
            <p:ph type="subTitle" idx="1"/>
          </p:nvPr>
        </p:nvSpPr>
        <p:spPr>
          <a:xfrm rot="0">
            <a:off x="1524000" y="3602038"/>
            <a:ext cx="9144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Calibri" pitchFamily="0" charset="0"/>
                <a:ea typeface="等线" pitchFamily="0" charset="0"/>
                <a:cs typeface="Lucida Sans"/>
              </a:rPr>
              <a:t>Click to edit Master subtitle style</a:t>
            </a:r>
            <a:endParaRPr lang="zh-CN" altLang="en-US" sz="2400" b="0" i="0" u="none" strike="noStrike" kern="1200" cap="none" spc="0" baseline="0">
              <a:solidFill>
                <a:schemeClr val="tx1"/>
              </a:solidFill>
              <a:latin typeface="Calibri" pitchFamily="0" charset="0"/>
              <a:ea typeface="等线" pitchFamily="0" charset="0"/>
              <a:cs typeface="Lucida Sans"/>
            </a:endParaRPr>
          </a:p>
        </p:txBody>
      </p:sp>
      <p:sp>
        <p:nvSpPr>
          <p:cNvPr id="9" name="文本框"/>
          <p:cNvSpPr>
            <a:spLocks noGrp="1"/>
          </p:cNvSpPr>
          <p:nvPr>
            <p:ph type="dt" idx="10"/>
          </p:nvPr>
        </p:nvSpPr>
        <p:spPr>
          <a:xfrm rot="0">
            <a:off x="838200" y="6356349"/>
            <a:ext cx="2743200" cy="365125"/>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0" name="文本框"/>
          <p:cNvSpPr>
            <a:spLocks noGrp="1"/>
          </p:cNvSpPr>
          <p:nvPr>
            <p:ph type="ftr"/>
          </p:nvPr>
        </p:nvSpPr>
        <p:spPr>
          <a:xfrm rot="0">
            <a:off x="4038600" y="6356349"/>
            <a:ext cx="4114800" cy="365125"/>
          </a:xfrm>
          <a:prstGeom prst="rect"/>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1" name="文本框"/>
          <p:cNvSpPr>
            <a:spLocks noGrp="1"/>
          </p:cNvSpPr>
          <p:nvPr>
            <p:ph type="sldNum"/>
          </p:nvPr>
        </p:nvSpPr>
        <p:spPr>
          <a:xfrm rot="0">
            <a:off x="8610600" y="6356349"/>
            <a:ext cx="2743200"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06574328"/>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1557671"/>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65111293"/>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69305693"/>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57714351"/>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1903165"/>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777783470"/>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494610738"/>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889343"/>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60793570"/>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52189238"/>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chemeClr val="bg1"/>
        </a:solidFill>
      </p:bgPr>
    </p:bg>
    <p:spTree>
      <p:nvGrpSpPr>
        <p:cNvPr id="1" name=""/>
        <p:cNvGrpSpPr/>
        <p:nvPr/>
      </p:nvGrpSpPr>
      <p:grpSpPr>
        <a:xfrm xmlns:a="http://schemas.openxmlformats.org/drawingml/2006/main">
          <a:off x="0" y="0"/>
          <a:ext cx="0" cy="0"/>
          <a:chOff x="0" y="0"/>
          <a:chExt cx="0" cy="0"/>
        </a:xfrm>
      </p:grpSpPr>
      <p:sp>
        <p:nvSpPr>
          <p:cNvPr id="14" name="文本框"/>
          <p:cNvSpPr>
            <a:spLocks xmlns:a="http://schemas.openxmlformats.org/drawingml/2006/main" noGrp="1"/>
          </p:cNvSpPr>
          <p:nvPr>
            <p:ph type="title"/>
          </p:nvPr>
        </p:nvSpPr>
        <p:spPr>
          <a:xfrm xmlns:a="http://schemas.openxmlformats.org/drawingml/2006/main" rot="0">
            <a:off x="838200" y="365124"/>
            <a:ext cx="10515600" cy="1325562"/>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r>
              <a:rPr lang="en-US" altLang="zh-CN"/>
              <a:t>Click to edit Master title style</a:t>
            </a:r>
            <a:endParaRPr lang="zh-CN" altLang="en-US"/>
          </a:p>
        </p:txBody>
      </p:sp>
      <p:sp>
        <p:nvSpPr>
          <p:cNvPr id="15" name="文本框"/>
          <p:cNvSpPr>
            <a:spLocks xmlns:a="http://schemas.openxmlformats.org/drawingml/2006/main" noGrp="1"/>
          </p:cNvSpPr>
          <p:nvPr>
            <p:ph type="body" idx="1"/>
          </p:nvPr>
        </p:nvSpPr>
        <p:spPr>
          <a:xfrm xmlns:a="http://schemas.openxmlformats.org/drawingml/2006/main" rot="0">
            <a:off x="838200" y="1825625"/>
            <a:ext cx="10515600" cy="4351338"/>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r>
              <a:rPr lang="en-US" altLang="zh-CN"/>
              <a:t>Click to edit Master text styles</a:t>
            </a:r>
            <a:endParaRPr lang="en-US" altLang="zh-CN"/>
          </a:p>
          <a:p xmlns:a="http://schemas.openxmlformats.org/drawingml/2006/main">
            <a:pPr lvl="1"/>
            <a:r>
              <a:rPr lang="en-US" altLang="zh-CN"/>
              <a:t>Second level</a:t>
            </a:r>
            <a:endParaRPr lang="en-US" altLang="zh-CN"/>
          </a:p>
          <a:p xmlns:a="http://schemas.openxmlformats.org/drawingml/2006/main">
            <a:pPr lvl="2"/>
            <a:r>
              <a:rPr lang="en-US" altLang="zh-CN"/>
              <a:t>Third level</a:t>
            </a:r>
            <a:endParaRPr lang="en-US" altLang="zh-CN"/>
          </a:p>
          <a:p xmlns:a="http://schemas.openxmlformats.org/drawingml/2006/main">
            <a:pPr lvl="3"/>
            <a:r>
              <a:rPr lang="en-US" altLang="zh-CN"/>
              <a:t>Fourth level</a:t>
            </a:r>
            <a:endParaRPr lang="en-US" altLang="zh-CN"/>
          </a:p>
          <a:p xmlns:a="http://schemas.openxmlformats.org/drawingml/2006/main">
            <a:pPr lvl="4"/>
            <a:r>
              <a:rPr lang="en-US" altLang="zh-CN"/>
              <a:t>Fifth level</a:t>
            </a:r>
            <a:endParaRPr lang="zh-CN" altLang="en-US"/>
          </a:p>
        </p:txBody>
      </p:sp>
      <p:sp>
        <p:nvSpPr>
          <p:cNvPr id="16" name="文本框"/>
          <p:cNvSpPr>
            <a:spLocks xmlns:a="http://schemas.openxmlformats.org/drawingml/2006/main" noGrp="1"/>
          </p:cNvSpPr>
          <p:nvPr>
            <p:ph type="dt" idx="10"/>
          </p:nvPr>
        </p:nvSpPr>
        <p:spPr>
          <a:xfrm xmlns:a="http://schemas.openxmlformats.org/drawingml/2006/main" rot="0">
            <a:off x="838200" y="6356349"/>
            <a:ext cx="2743200" cy="365125"/>
          </a:xfrm>
          <a:prstGeom xmlns:a="http://schemas.openxmlformats.org/drawingml/2006/main" prst="rect"/>
          <a:noFill xmlns:a="http://schemas.openxmlformats.org/drawingml/2006/main"/>
          <a:ln xmlns:a="http://schemas.openxmlformats.org/drawingml/2006/main"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l"/>
            <a:endParaRPr lang="zh-CN" altLang="en-US" sz="1200">
              <a:solidFill>
                <a:srgbClr val="898989"/>
              </a:solidFill>
              <a:latin typeface="Calibri" pitchFamily="0" charset="0"/>
              <a:ea typeface="等线" pitchFamily="0" charset="0"/>
              <a:cs typeface="Calibri" pitchFamily="0" charset="0"/>
            </a:endParaRPr>
          </a:p>
        </p:txBody>
      </p:sp>
      <p:sp>
        <p:nvSpPr>
          <p:cNvPr id="17" name="文本框"/>
          <p:cNvSpPr>
            <a:spLocks xmlns:a="http://schemas.openxmlformats.org/drawingml/2006/main" noGrp="1"/>
          </p:cNvSpPr>
          <p:nvPr>
            <p:ph type="ftr"/>
          </p:nvPr>
        </p:nvSpPr>
        <p:spPr>
          <a:xfrm xmlns:a="http://schemas.openxmlformats.org/drawingml/2006/main" rot="0">
            <a:off x="4038600" y="6356349"/>
            <a:ext cx="4114800" cy="365125"/>
          </a:xfrm>
          <a:prstGeom xmlns:a="http://schemas.openxmlformats.org/drawingml/2006/main" prst="rect"/>
          <a:noFill xmlns:a="http://schemas.openxmlformats.org/drawingml/2006/main"/>
          <a:ln xmlns:a="http://schemas.openxmlformats.org/drawingml/2006/main"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ctr"/>
            <a:endParaRPr lang="zh-CN" altLang="en-US" sz="1200">
              <a:solidFill>
                <a:srgbClr val="898989"/>
              </a:solidFill>
              <a:latin typeface="Calibri" pitchFamily="0" charset="0"/>
              <a:ea typeface="等线" pitchFamily="0" charset="0"/>
              <a:cs typeface="Calibri" pitchFamily="0" charset="0"/>
            </a:endParaRPr>
          </a:p>
        </p:txBody>
      </p:sp>
      <p:sp>
        <p:nvSpPr>
          <p:cNvPr id="18" name="文本框"/>
          <p:cNvSpPr>
            <a:spLocks xmlns:a="http://schemas.openxmlformats.org/drawingml/2006/main" noGrp="1"/>
          </p:cNvSpPr>
          <p:nvPr>
            <p:ph type="sldNum"/>
          </p:nvPr>
        </p:nvSpPr>
        <p:spPr>
          <a:xfrm xmlns:a="http://schemas.openxmlformats.org/drawingml/2006/main" rot="0">
            <a:off x="8610600" y="6356349"/>
            <a:ext cx="2743200" cy="365125"/>
          </a:xfrm>
          <a:prstGeom xmlns:a="http://schemas.openxmlformats.org/drawingml/2006/main" prst="rect"/>
          <a:noFill xmlns:a="http://schemas.openxmlformats.org/drawingml/2006/main"/>
          <a:ln xmlns:a="http://schemas.openxmlformats.org/drawingml/2006/main"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213786918"/>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文本框"/>
          <p:cNvSpPr>
            <a:spLocks noGrp="1"/>
          </p:cNvSpPr>
          <p:nvPr>
            <p:ph type="dt" idx="2"/>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898989"/>
                </a:solidFill>
                <a:latin typeface="Calibri" pitchFamily="0" charset="0"/>
                <a:ea typeface="等线" pitchFamily="0" charset="0"/>
                <a:cs typeface="Calibri" pitchFamily="0" charset="0"/>
              </a:rPr>
              <a:t>7/28/2026</a:t>
            </a:fld>
            <a:endParaRPr lang="zh-CN" altLang="en-US" sz="1200">
              <a:solidFill>
                <a:srgbClr val="898989"/>
              </a:solidFill>
              <a:latin typeface="Calibri" pitchFamily="0" charset="0"/>
              <a:ea typeface="等线" pitchFamily="0" charset="0"/>
              <a:cs typeface="Calibri" pitchFamily="0" charset="0"/>
            </a:endParaRPr>
          </a:p>
        </p:txBody>
      </p:sp>
      <p:sp>
        <p:nvSpPr>
          <p:cNvPr id="5" name="文本框"/>
          <p:cNvSpPr>
            <a:spLocks noGrp="1"/>
          </p:cNvSpPr>
          <p:nvPr>
            <p:ph type="ftr" idx="3"/>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6" name="文本框"/>
          <p:cNvSpPr>
            <a:spLocks noGrp="1"/>
          </p:cNvSpPr>
          <p:nvPr>
            <p:ph type="sldNum" idx="4"/>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27225374"/>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等线"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文本框"/>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1" i="0" u="none" strike="noStrike" kern="1200" cap="none" spc="0" baseline="0">
                <a:solidFill>
                  <a:srgbClr val="7030A0"/>
                </a:solidFill>
                <a:latin typeface="Times New Roman" pitchFamily="18" charset="0"/>
                <a:ea typeface="等线 Light" pitchFamily="0" charset="0"/>
                <a:cs typeface="Times New Roman" pitchFamily="18" charset="0"/>
              </a:rPr>
              <a:t>Data Storytelling &amp; Statistical Validation</a:t>
            </a:r>
            <a:endParaRPr lang="zh-CN" altLang="en-US" sz="6000" b="1" i="0" u="none" strike="noStrike" kern="1200" cap="none" spc="0" baseline="0">
              <a:solidFill>
                <a:srgbClr val="7030A0"/>
              </a:solidFill>
              <a:latin typeface="Times New Roman" pitchFamily="18" charset="0"/>
              <a:ea typeface="等线 Light" pitchFamily="0" charset="0"/>
              <a:cs typeface="Times New Roman" pitchFamily="18" charset="0"/>
            </a:endParaRPr>
          </a:p>
        </p:txBody>
      </p:sp>
      <p:sp>
        <p:nvSpPr>
          <p:cNvPr id="13" name="文本框"/>
          <p:cNvSpPr>
            <a:spLocks noGrp="1"/>
          </p:cNvSpPr>
          <p:nvPr>
            <p:ph type="subTitle" idx="1"/>
          </p:nvPr>
        </p:nvSpPr>
        <p:spPr>
          <a:xfrm rot="0">
            <a:off x="1524000" y="3602037"/>
            <a:ext cx="9144000" cy="2133598"/>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4000" b="1" i="0" u="none" strike="noStrike" kern="1200" cap="none" spc="0" baseline="0">
                <a:solidFill>
                  <a:srgbClr val="0070C0"/>
                </a:solidFill>
                <a:latin typeface="Times New Roman" pitchFamily="18" charset="0"/>
                <a:ea typeface="等线" pitchFamily="0" charset="0"/>
                <a:cs typeface="Times New Roman" pitchFamily="18" charset="0"/>
              </a:rPr>
              <a:t>Sales Data Analysis Project</a:t>
            </a:r>
            <a:endParaRPr lang="en-US" altLang="zh-CN" sz="4000" b="1" i="0" u="none" strike="noStrike" kern="1200" cap="none" spc="0" baseline="0">
              <a:solidFill>
                <a:srgbClr val="0070C0"/>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r>
              <a:rPr lang="en-US" altLang="zh-CN" sz="1800" b="1" i="0" u="none" strike="noStrike" kern="1200" cap="none" spc="0" baseline="0">
                <a:solidFill>
                  <a:srgbClr val="00B0F0"/>
                </a:solidFill>
                <a:latin typeface="Times New Roman" pitchFamily="18" charset="0"/>
                <a:ea typeface="等线" pitchFamily="0" charset="0"/>
                <a:cs typeface="Times New Roman" pitchFamily="18" charset="0"/>
              </a:rPr>
              <a:t>Presented By:</a:t>
            </a:r>
            <a:endParaRPr lang="en-US" altLang="zh-CN" sz="1800" b="1" i="0" u="none" strike="noStrike" kern="1200" cap="none" spc="0" baseline="0">
              <a:solidFill>
                <a:srgbClr val="00B0F0"/>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r>
              <a:rPr lang="en-US" altLang="zh-CN" sz="1800" b="1" i="0" u="none" strike="noStrike" kern="1200" cap="none" spc="0" baseline="0">
                <a:solidFill>
                  <a:schemeClr val="tx1"/>
                </a:solidFill>
                <a:latin typeface="Times New Roman" pitchFamily="18" charset="0"/>
                <a:ea typeface="等线" pitchFamily="0" charset="0"/>
                <a:cs typeface="Times New Roman" pitchFamily="18" charset="0"/>
              </a:rPr>
              <a:t>Name</a:t>
            </a:r>
            <a:r>
              <a:rPr lang="en-US" altLang="zh-CN" sz="1800" b="1" i="0" u="none" strike="noStrike" kern="1200" cap="none" spc="0" baseline="0">
                <a:solidFill>
                  <a:srgbClr val="00B0F0"/>
                </a:solidFill>
                <a:latin typeface="Times New Roman" pitchFamily="18" charset="0"/>
                <a:ea typeface="等线" pitchFamily="0" charset="0"/>
                <a:cs typeface="Times New Roman" pitchFamily="18" charset="0"/>
              </a:rPr>
              <a:t> : </a:t>
            </a: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M. </a:t>
            </a: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Bangaram </a:t>
            </a:r>
            <a:endParaRPr lang="en-US" altLang="zh-CN" sz="1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r>
              <a:rPr lang="en-US" altLang="zh-CN" sz="1800" b="1" i="0" u="none" strike="noStrike" kern="1200" cap="none" spc="0" baseline="0">
                <a:solidFill>
                  <a:schemeClr val="tx1"/>
                </a:solidFill>
                <a:latin typeface="Times New Roman" pitchFamily="18" charset="0"/>
                <a:ea typeface="等线" pitchFamily="0" charset="0"/>
                <a:cs typeface="Times New Roman" pitchFamily="18" charset="0"/>
              </a:rPr>
              <a:t>Internship</a:t>
            </a:r>
            <a:r>
              <a:rPr lang="en-US" altLang="zh-CN" sz="1800" b="1" i="0" u="none" strike="noStrike" kern="1200" cap="none" spc="0" baseline="0">
                <a:solidFill>
                  <a:srgbClr val="00B0F0"/>
                </a:solidFill>
                <a:latin typeface="Times New Roman" pitchFamily="18" charset="0"/>
                <a:ea typeface="等线" pitchFamily="0" charset="0"/>
                <a:cs typeface="Times New Roman" pitchFamily="18" charset="0"/>
              </a:rPr>
              <a:t>: </a:t>
            </a: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Data Analytics Internship</a:t>
            </a:r>
            <a:endParaRPr lang="en-US" altLang="zh-CN" sz="1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endParaRPr lang="zh-CN" altLang="en-US" sz="4000" b="1" i="0" u="none" strike="noStrike" kern="1200" cap="none" spc="0" baseline="0">
              <a:solidFill>
                <a:srgbClr val="00B0F0"/>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801615675"/>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Tasks</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20"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79000"/>
              </a:lnSpc>
              <a:spcBef>
                <a:spcPts val="1000"/>
              </a:spcBef>
              <a:spcAft>
                <a:spcPts val="0"/>
              </a:spcAft>
              <a:buFont typeface="Arial" pitchFamily="34" charset="0"/>
              <a:buChar char="•"/>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Task-1</a:t>
            </a:r>
            <a:r>
              <a:rPr lang="en-US" altLang="zh-CN" sz="2800" b="0" i="0" u="none" strike="noStrike" kern="1200" cap="none" spc="0" baseline="0">
                <a:solidFill>
                  <a:schemeClr val="tx1"/>
                </a:solidFill>
                <a:latin typeface="Calibri" pitchFamily="0" charset="0"/>
                <a:ea typeface="等线" pitchFamily="0" charset="0"/>
                <a:cs typeface="Lucida Sans"/>
              </a:rPr>
              <a:t>: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Data Immersion &amp; Wrangling</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Task -2</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 Exploratory Data Analysis(EDA)&amp; Business Intelligence</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Task-3</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 Deep-Dive Analysis &amp; Interactive Dashboarding</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3200" b="1" i="0" u="none" strike="noStrike" kern="1200" cap="none" spc="0" baseline="0">
                <a:solidFill>
                  <a:srgbClr val="2F5497"/>
                </a:solidFill>
                <a:latin typeface="Times New Roman" pitchFamily="18" charset="0"/>
                <a:ea typeface="等线" pitchFamily="0" charset="0"/>
                <a:cs typeface="Times New Roman" pitchFamily="18" charset="0"/>
              </a:rPr>
              <a:t>Tools Used</a:t>
            </a:r>
            <a:endParaRPr lang="en-US" altLang="zh-CN" sz="3200" b="1" i="0" u="none" strike="noStrike" kern="1200" cap="none" spc="0" baseline="0">
              <a:solidFill>
                <a:srgbClr val="2F5497"/>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Microsoft Excel / Google Sheets</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Power BI</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GitHub</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79000"/>
              </a:lnSpc>
              <a:spcBef>
                <a:spcPts val="1000"/>
              </a:spcBef>
              <a:spcAft>
                <a:spcPts val="0"/>
              </a:spcAft>
              <a:buFont typeface="Arial" pitchFamily="34" charset="0"/>
              <a:buChar char="•"/>
            </a:pP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Microsoft PowerPoint</a:t>
            </a:r>
            <a:endParaRPr lang="zh-CN" altLang="en-US" sz="26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926586515"/>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Project overview</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22"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  This project focuses on analyzing sales data to extract meaningful business insights using data analytics techniques. The project involved cleaning and preparing the dataset, performing exploratory data analysis (EDA), creating an interactive dashboard, and presenting the findings through data storytelling and statistical validation. The insights help identify sales trends, top-performing product categories, customer purchasing patterns, and support data-driven business decisions.</a:t>
            </a:r>
            <a:endParaRPr lang="zh-CN" altLang="en-US" sz="28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0258448"/>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Project Objective and Goals</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24"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800" b="1" i="0" u="none" strike="noStrike" kern="1200" cap="none" spc="0" baseline="0">
                <a:solidFill>
                  <a:srgbClr val="C55A11"/>
                </a:solidFill>
                <a:latin typeface="Times New Roman" pitchFamily="18" charset="0"/>
                <a:ea typeface="等线" pitchFamily="0" charset="0"/>
                <a:cs typeface="Times New Roman" pitchFamily="18" charset="0"/>
              </a:rPr>
              <a:t>Objective</a:t>
            </a:r>
            <a:endParaRPr lang="en-US" altLang="zh-CN" sz="2800" b="1" i="0" u="none" strike="noStrike" kern="1200" cap="none" spc="0" baseline="0">
              <a:solidFill>
                <a:srgbClr val="C55A1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800" b="1" i="0" u="none" strike="noStrike" kern="1200" cap="none" spc="0" baseline="0">
                <a:solidFill>
                  <a:srgbClr val="C55A11"/>
                </a:solidFill>
                <a:latin typeface="Calibri" pitchFamily="0" charset="0"/>
                <a:ea typeface="等线" pitchFamily="0" charset="0"/>
                <a:cs typeface="Lucida Sans"/>
              </a:rPr>
              <a:t>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The objective of this project is to analyze the sales dataset and identify meaningful business insights that support better decision-making. The analysis focuses on sales performance, customer purchasing behavior, product categories, monthly sales trends, and regional performance</a:t>
            </a:r>
            <a:r>
              <a:rPr lang="en-US" altLang="zh-CN" sz="2000" b="1" i="0" u="none" strike="noStrike" kern="1200" cap="none" spc="0" baseline="0">
                <a:solidFill>
                  <a:srgbClr val="C55A11"/>
                </a:solidFill>
                <a:latin typeface="Times New Roman" pitchFamily="18" charset="0"/>
                <a:ea typeface="等线" pitchFamily="0" charset="0"/>
                <a:cs typeface="Times New Roman" pitchFamily="18" charset="0"/>
              </a:rPr>
              <a:t>.</a:t>
            </a:r>
            <a:endParaRPr lang="en-US" altLang="zh-CN" sz="2000" b="1" i="0" u="none" strike="noStrike" kern="1200" cap="none" spc="0" baseline="0">
              <a:solidFill>
                <a:srgbClr val="C55A1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1" i="0" u="none" strike="noStrike" kern="1200" cap="none" spc="0" baseline="0">
                <a:solidFill>
                  <a:srgbClr val="C55A11"/>
                </a:solidFill>
                <a:latin typeface="Times New Roman" pitchFamily="18" charset="0"/>
                <a:ea typeface="等线" pitchFamily="0" charset="0"/>
                <a:cs typeface="Times New Roman" pitchFamily="18" charset="0"/>
              </a:rPr>
              <a:t>Golas</a:t>
            </a:r>
            <a:endParaRPr lang="en-US" altLang="zh-CN" sz="2800" b="1" i="0" u="none" strike="noStrike" kern="1200" cap="none" spc="0" baseline="0">
              <a:solidFill>
                <a:srgbClr val="C55A1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1.Analyze sales performance.</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2.Identify top-selling product categories.</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3.Find the best-performing cities.</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4.Understand monthly sales trends.</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5.Provide business recommendations</a:t>
            </a:r>
            <a:r>
              <a:rPr lang="en-US" altLang="zh-CN" sz="2000" b="1" i="0" u="none" strike="noStrike" kern="1200" cap="none" spc="0" baseline="0">
                <a:solidFill>
                  <a:srgbClr val="C55A11"/>
                </a:solidFill>
                <a:latin typeface="Times New Roman" pitchFamily="18" charset="0"/>
                <a:ea typeface="等线" pitchFamily="0" charset="0"/>
                <a:cs typeface="Times New Roman" pitchFamily="18" charset="0"/>
              </a:rPr>
              <a:t>.</a:t>
            </a:r>
            <a:endParaRPr lang="zh-CN" altLang="en-US" sz="2800" b="1" i="0" u="none" strike="noStrike" kern="1200" cap="none" spc="0" baseline="0">
              <a:solidFill>
                <a:srgbClr val="C55A11"/>
              </a:solidFill>
              <a:latin typeface="Calibri" pitchFamily="0" charset="0"/>
              <a:ea typeface="等线" pitchFamily="0" charset="0"/>
              <a:cs typeface="Lucida Sans"/>
            </a:endParaRPr>
          </a:p>
        </p:txBody>
      </p:sp>
    </p:spTree>
    <p:extLst>
      <p:ext uri="{BB962C8B-B14F-4D97-AF65-F5344CB8AC3E}">
        <p14:creationId xmlns:p14="http://schemas.microsoft.com/office/powerpoint/2010/main" val="331821970"/>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 name="文本框"/>
          <p:cNvSpPr>
            <a:spLocks noGrp="1"/>
          </p:cNvSpPr>
          <p:nvPr>
            <p:ph type="body" idx="1"/>
          </p:nvPr>
        </p:nvSpPr>
        <p:spPr>
          <a:xfrm rot="0">
            <a:off x="838200" y="565079"/>
            <a:ext cx="10515600" cy="5611883"/>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79000"/>
              </a:lnSpc>
              <a:spcBef>
                <a:spcPts val="1000"/>
              </a:spcBef>
              <a:spcAft>
                <a:spcPts val="0"/>
              </a:spcAft>
              <a:buNone/>
            </a:pP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Task 1: Data Immersion &amp; Wrangling</a:t>
            </a:r>
            <a:endPar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2600" b="1" i="0" u="none" strike="noStrike" kern="1200" cap="none" spc="0" baseline="0">
                <a:solidFill>
                  <a:srgbClr val="2F5497"/>
                </a:solidFill>
                <a:latin typeface="Times New Roman" pitchFamily="18" charset="0"/>
                <a:ea typeface="等线" pitchFamily="0" charset="0"/>
                <a:cs typeface="Times New Roman" pitchFamily="18" charset="0"/>
              </a:rPr>
              <a:t>	</a:t>
            </a: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1.Improve dataset</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2.remove duplicates</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3.Handling missing values</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4.Prepared clean dataset</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Task-2:EDA &amp;</a:t>
            </a:r>
            <a:r>
              <a:rPr lang="en-US" altLang="zh-CN" sz="2200" b="1" i="0" u="none" strike="noStrike" kern="1200" cap="none" spc="0" baseline="0">
                <a:solidFill>
                  <a:srgbClr val="203864"/>
                </a:solidFill>
                <a:latin typeface="Times New Roman" pitchFamily="18" charset="0"/>
                <a:ea typeface="等线" pitchFamily="0" charset="0"/>
                <a:cs typeface="Times New Roman" pitchFamily="18" charset="0"/>
              </a:rPr>
              <a:t>Business</a:t>
            </a: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 Intelligence</a:t>
            </a:r>
            <a:endPar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	</a:t>
            </a: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1.Explored sales trends</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2.Analyzed categories</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3.Compare customer behavior </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700" b="0" i="0" u="none" strike="noStrike" kern="1200" cap="none" spc="0" baseline="0">
                <a:solidFill>
                  <a:schemeClr val="tx1"/>
                </a:solidFill>
                <a:latin typeface="Times New Roman" pitchFamily="18" charset="0"/>
                <a:ea typeface="等线" pitchFamily="0" charset="0"/>
                <a:cs typeface="Times New Roman" pitchFamily="18" charset="0"/>
              </a:rPr>
              <a:t>	4.create visualizations</a:t>
            </a:r>
            <a:endParaRPr lang="en-US" altLang="zh-CN" sz="17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Task-3:Interactive Dashboard</a:t>
            </a:r>
            <a:endPar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2200" b="1" i="0" u="none" strike="noStrike" kern="1200" cap="none" spc="0" baseline="0">
                <a:solidFill>
                  <a:srgbClr val="2F5497"/>
                </a:solidFill>
                <a:latin typeface="Times New Roman" pitchFamily="18" charset="0"/>
                <a:ea typeface="等线" pitchFamily="0" charset="0"/>
                <a:cs typeface="Times New Roman" pitchFamily="18" charset="0"/>
              </a:rPr>
              <a:t>	</a:t>
            </a: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1.Totals sales 139.24 million</a:t>
            </a:r>
            <a:endParaRPr lang="en-US" altLang="zh-CN" sz="1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	2.grocery category highest sales</a:t>
            </a:r>
            <a:endParaRPr lang="en-US" altLang="zh-CN" sz="1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	3.Male &amp; Female sales nearly equal</a:t>
            </a:r>
            <a:endParaRPr lang="en-US" altLang="zh-CN" sz="1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79000"/>
              </a:lnSpc>
              <a:spcBef>
                <a:spcPts val="1000"/>
              </a:spcBef>
              <a:spcAft>
                <a:spcPts val="0"/>
              </a:spcAft>
              <a:buNone/>
            </a:pPr>
            <a:r>
              <a:rPr lang="en-US" altLang="zh-CN" sz="1800" b="0" i="0" u="none" strike="noStrike" kern="1200" cap="none" spc="0" baseline="0">
                <a:solidFill>
                  <a:schemeClr val="tx1"/>
                </a:solidFill>
                <a:latin typeface="Times New Roman" pitchFamily="18" charset="0"/>
                <a:ea typeface="等线" pitchFamily="0" charset="0"/>
                <a:cs typeface="Times New Roman" pitchFamily="18" charset="0"/>
              </a:rPr>
              <a:t>	4.Sensonal monthly trends </a:t>
            </a:r>
            <a:endParaRPr lang="zh-CN" altLang="en-US" sz="18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002534942"/>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Dashboarding </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pic>
        <p:nvPicPr>
          <p:cNvPr id="27" name="图片"/>
          <p:cNvPicPr>
            <a:picLocks noChangeAspect="1"/>
          </p:cNvPicPr>
          <p:nvPr/>
        </p:nvPicPr>
        <p:blipFill>
          <a:blip r:embed="rId1" cstate="print"/>
          <a:stretch>
            <a:fillRect/>
          </a:stretch>
        </p:blipFill>
        <p:spPr>
          <a:xfrm rot="0">
            <a:off x="297951" y="1602769"/>
            <a:ext cx="10644027" cy="5024062"/>
          </a:xfrm>
          <a:prstGeom prst="rect"/>
          <a:noFill/>
          <a:ln w="12700" cmpd="sng" cap="flat">
            <a:noFill/>
            <a:prstDash val="solid"/>
            <a:miter/>
          </a:ln>
        </p:spPr>
      </p:pic>
    </p:spTree>
    <p:extLst>
      <p:ext uri="{BB962C8B-B14F-4D97-AF65-F5344CB8AC3E}">
        <p14:creationId xmlns:p14="http://schemas.microsoft.com/office/powerpoint/2010/main" val="1871925732"/>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Key Insights</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29"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Total Sales: ₹139.24 Million.</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Grocery is the highest-selling product category.</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Male and female customers contribute almost equally to total sales.</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Monthly sales show seasonal fluctuations.</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The dashboard helps identify top-performing categories and supports better business decisions.</a:t>
            </a:r>
            <a:endParaRPr lang="zh-CN" altLang="en-US" sz="20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630952962"/>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Business Recommendations</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31"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Increase inventory for high-demand products.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Launch promotional campaigns during peak sales months.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Focus marketing efforts on high-performing cities.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Provide loyalty rewards for repeat customers.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Improve the online shopping experience.</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Monitor low-performing categories and introduce discounts</a:t>
            </a:r>
            <a:r>
              <a:rPr lang="en-US" altLang="zh-CN" sz="2800" b="0" i="0" u="none" strike="noStrike" kern="1200" cap="none" spc="0" baseline="0">
                <a:solidFill>
                  <a:schemeClr val="tx1"/>
                </a:solidFill>
                <a:latin typeface="Calibri" pitchFamily="0" charset="0"/>
                <a:ea typeface="等线" pitchFamily="0" charset="0"/>
                <a:cs typeface="Lucida Sans"/>
              </a:rPr>
              <a:t>.</a:t>
            </a:r>
            <a:endParaRPr lang="zh-CN" altLang="en-US" sz="2800" b="0" i="0" u="none" strike="noStrike" kern="1200" cap="none" spc="0" baseline="0">
              <a:solidFill>
                <a:schemeClr val="tx1"/>
              </a:solidFill>
              <a:latin typeface="Calibri" pitchFamily="0" charset="0"/>
              <a:ea typeface="等线" pitchFamily="0" charset="0"/>
              <a:cs typeface="Lucida Sans"/>
            </a:endParaRPr>
          </a:p>
        </p:txBody>
      </p:sp>
    </p:spTree>
    <p:extLst>
      <p:ext uri="{BB962C8B-B14F-4D97-AF65-F5344CB8AC3E}">
        <p14:creationId xmlns:p14="http://schemas.microsoft.com/office/powerpoint/2010/main" val="420777321"/>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Hypothesis Testing &amp; Statistical Validation</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33"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800" b="1" i="0" u="none" strike="noStrike" kern="1200" cap="none" spc="0" baseline="0">
                <a:solidFill>
                  <a:srgbClr val="833C0B"/>
                </a:solidFill>
                <a:latin typeface="Times New Roman" pitchFamily="18" charset="0"/>
                <a:ea typeface="等线" pitchFamily="0" charset="0"/>
                <a:cs typeface="Times New Roman" pitchFamily="18" charset="0"/>
              </a:rPr>
              <a:t>Hypothesis</a:t>
            </a:r>
            <a:endParaRPr lang="en-US" altLang="zh-CN" sz="2800" b="1" i="0" u="none" strike="noStrike" kern="1200" cap="none" spc="0" baseline="0">
              <a:solidFill>
                <a:srgbClr val="833C0B"/>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Null Hypothesis (H₀)</a:t>
            </a: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There is no significant difference in sales between product categories.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l">
              <a:lnSpc>
                <a:spcPct val="90000"/>
              </a:lnSpc>
              <a:spcBef>
                <a:spcPts val="1000"/>
              </a:spcBef>
              <a:spcAft>
                <a:spcPts val="0"/>
              </a:spcAft>
              <a:buNone/>
            </a:pP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Alternative Hypothesis (H₁</a:t>
            </a: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There is a significant difference in sales between product categories.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1" i="0" u="none" strike="noStrike" kern="1200" cap="none" spc="0" baseline="0">
                <a:solidFill>
                  <a:srgbClr val="833C0B"/>
                </a:solidFill>
                <a:latin typeface="Times New Roman" pitchFamily="18" charset="0"/>
                <a:ea typeface="等线" pitchFamily="0" charset="0"/>
                <a:cs typeface="Times New Roman" pitchFamily="18" charset="0"/>
              </a:rPr>
              <a:t>Statistical Validation</a:t>
            </a:r>
            <a:endParaRPr lang="en-US" altLang="zh-CN" sz="2800" b="1" i="0" u="none" strike="noStrike" kern="1200" cap="none" spc="0" baseline="0">
              <a:solidFill>
                <a:srgbClr val="833C0B"/>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Compared sales across categories.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Observed Electronics had the highest average sales.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The analysis supports the alternative hypothesis</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t>
            </a:r>
            <a:endParaRPr lang="zh-CN" altLang="en-US" sz="20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216965764"/>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Skills Gained</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35"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Data Cleaning</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EDA</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Dashboarding</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Data visualization</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Business Analysis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Power BI</a:t>
            </a:r>
            <a:endParaRPr lang="zh-CN" altLang="en-US" sz="28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583464193"/>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400" b="1" i="0" u="none" strike="noStrike" kern="1200" cap="none" spc="0" baseline="0">
                <a:solidFill>
                  <a:srgbClr val="2F5497"/>
                </a:solidFill>
                <a:latin typeface="Times New Roman" pitchFamily="18" charset="0"/>
                <a:ea typeface="等线 Light" pitchFamily="0" charset="0"/>
                <a:cs typeface="Times New Roman" pitchFamily="18" charset="0"/>
              </a:rPr>
              <a:t>Conclusion</a:t>
            </a:r>
            <a:endParaRPr lang="zh-CN" altLang="en-US" sz="4400" b="1" i="0" u="none" strike="noStrike" kern="1200" cap="none" spc="0" baseline="0">
              <a:solidFill>
                <a:srgbClr val="2F5497"/>
              </a:solidFill>
              <a:latin typeface="Times New Roman" pitchFamily="18" charset="0"/>
              <a:ea typeface="等线 Light" pitchFamily="0" charset="0"/>
              <a:cs typeface="Times New Roman" pitchFamily="18" charset="0"/>
            </a:endParaRPr>
          </a:p>
        </p:txBody>
      </p:sp>
      <p:sp>
        <p:nvSpPr>
          <p:cNvPr id="37"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This project successfully analyzed the sales dataset and transformed raw data into meaningful business insights.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The dashboard highlights important sales trends, customer behavior, and business opportunities.</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The recommendations provided can help improve marketing strategies, inventory management, and overall business performance</a:t>
            </a:r>
            <a:r>
              <a:rPr lang="en-US" altLang="zh-CN" sz="2800" b="0" i="0" u="none" strike="noStrike" kern="1200" cap="none" spc="0" baseline="0">
                <a:solidFill>
                  <a:schemeClr val="tx1"/>
                </a:solidFill>
                <a:latin typeface="Calibri" pitchFamily="0" charset="0"/>
                <a:ea typeface="等线" pitchFamily="0" charset="0"/>
                <a:cs typeface="Lucida Sans"/>
              </a:rPr>
              <a:t>.</a:t>
            </a:r>
            <a:endParaRPr lang="zh-CN" altLang="en-US" sz="2800" b="0" i="0" u="none" strike="noStrike" kern="1200" cap="none" spc="0" baseline="0">
              <a:solidFill>
                <a:schemeClr val="tx1"/>
              </a:solidFill>
              <a:latin typeface="Calibri" pitchFamily="0" charset="0"/>
              <a:ea typeface="等线" pitchFamily="0" charset="0"/>
              <a:cs typeface="Lucida Sans"/>
            </a:endParaRPr>
          </a:p>
        </p:txBody>
      </p:sp>
    </p:spTree>
    <p:extLst>
      <p:ext uri="{BB962C8B-B14F-4D97-AF65-F5344CB8AC3E}">
        <p14:creationId xmlns:p14="http://schemas.microsoft.com/office/powerpoint/2010/main" val="164205322"/>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 name="文本框"/>
          <p:cNvSpPr>
            <a:spLocks noGrp="1"/>
          </p:cNvSpPr>
          <p:nvPr>
            <p:ph type="title"/>
          </p:nvPr>
        </p:nvSpPr>
        <p:spPr>
          <a:xfrm rot="0">
            <a:off x="2995126" y="1195550"/>
            <a:ext cx="8136292" cy="471030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6600" b="1" i="0" u="none" strike="noStrike" kern="1200" cap="none" spc="0" baseline="0">
                <a:solidFill>
                  <a:srgbClr val="7030A0"/>
                </a:solidFill>
                <a:latin typeface="Times New Roman" pitchFamily="18" charset="0"/>
                <a:ea typeface="等线 Light" pitchFamily="0" charset="0"/>
                <a:cs typeface="Times New Roman" pitchFamily="18" charset="0"/>
              </a:rPr>
              <a:t>THANK YOU</a:t>
            </a:r>
            <a:endParaRPr lang="zh-CN" altLang="en-US" sz="6600" b="1" i="0" u="none" strike="noStrike" kern="1200" cap="none" spc="0" baseline="0">
              <a:solidFill>
                <a:srgbClr val="7030A0"/>
              </a:solidFill>
              <a:latin typeface="Times New Roman" pitchFamily="18" charset="0"/>
              <a:ea typeface="等线 Light" pitchFamily="0" charset="0"/>
              <a:cs typeface="Times New Roman" pitchFamily="18" charset="0"/>
            </a:endParaRPr>
          </a:p>
        </p:txBody>
      </p:sp>
    </p:spTree>
    <p:extLst>
      <p:ext uri="{BB962C8B-B14F-4D97-AF65-F5344CB8AC3E}">
        <p14:creationId xmlns:p14="http://schemas.microsoft.com/office/powerpoint/2010/main" val="174705458"/>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40</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Data Storytelling &amp; Statistical Validation</dc:title>
  <dc:creator>Narendra kumar</dc:creator>
  <cp:lastModifiedBy>root</cp:lastModifiedBy>
  <cp:revision>12</cp:revision>
  <dcterms:created xsi:type="dcterms:W3CDTF">2026-07-22T14:26:10Z</dcterms:created>
  <dcterms:modified xsi:type="dcterms:W3CDTF">2026-07-28T11:13:12Z</dcterms:modified>
</cp:coreProperties>
</file>